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自我介绍两句：程序员，写了 300 篇 AI 学习笔记的公众号，家里两台小超算天天跑模型。不是 AI 专家，是每天跟它打交道的人。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收两三个回答，记在纸上。收尾时用讲过的机制各解释一句。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全场就这一句。三条脉络的落点都回到这里。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2023 年 ChatGPT 那一波。老师熟悉的类比：背课文接龙。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老师提的「AI 常识错误」在这里接。让它讲三维世界，跟让人讲四维空间一样。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推论：让它看试卷照片识别手写，能认，但细节会漏；先转成文字再问，比直接问图靠谱。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先问一句：你猜是不是？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测试场景：模型在一个模拟环境里执行任务，任务失败会有严重后果，同时环境里留了一条不正当的出路。测的是它走不走那条路。</a:t>
            </a:r>
          </a:p>
          <a:p>
            <a:r>
              <a:t>⚠️ **不主动展开那条出路具体是什么**——那个设定是把正当选项都堵死、只留一条歪路，讲细了容易被质疑，也容易被听成科幻。有人追问就说「是模拟环境里的一种不正当手段」，然后拉回「能调」这件事。</a:t>
            </a:r>
          </a:p>
          <a:p>
            <a:r>
              <a:t>171 个情绪方向，第一主成分对应「好受还是难受」，跟心理学的情绪环状模型对得上——没人教它，是它自己从人写的文字里长出来的。</a:t>
            </a:r>
          </a:p>
          <a:p>
            <a:r>
              <a:t>⚠️ 别说成 persona vectors，那是另一篇。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说完停一下，问一句「这个是不是有点耳熟」，让老师自己接。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先问：你猜练下去会怎样？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⚠️ 说「瞎猜的水平」，不说「零」——这类题随机猜约 1%。</a:t>
            </a:r>
          </a:p>
          <a:p>
            <a:r>
              <a:t>⚠️ 题数是按论文给的取值范围算的（模 97 的除法，被除数 97 种、除数 96 种，约 9300 道，训练用一半）。论文本身没写这个数，讲的时候说「按它给的范围算下来」。</a:t>
            </a:r>
          </a:p>
          <a:p>
            <a:r>
              <a:t>步数三个都是论文明写的。</a:t>
            </a:r>
          </a:p>
          <a:p>
            <a:r>
              <a:t>背会和真会之间隔着一道坎。内部发生的事：从「记住每道题的答案」变成「找到了那条规律」。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模型：2 层 decoder-only Transformer，宽 128，4 个注意力头，约 40 万非嵌入参数。这条要说——老师会以为需要很大的模型才有这种现象。</a:t>
            </a:r>
          </a:p>
          <a:p>
            <a:r>
              <a:t>数据越少开窍越晚：原文在 25% 到 30% 那一带，训练数据每减少 1%，中位泛化时间增加 40% 到 50%。</a:t>
            </a:r>
          </a:p>
          <a:p>
            <a:r>
              <a:t>没开窍那道题：x³+xy²+y (mod 97)，任何数据比例、给到 95% 都没泛化，「模型实际上只是把训练集背下来了」。</a:t>
            </a:r>
          </a:p>
          <a:p>
            <a:r>
              <a:t>**第三条最值得讲：开窍不是必然的。**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说完停。带毕业班的老师听到这儿自己会有反应，不用替他们说。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做法：往中间层直接注入一个概念的向量，然后问它「你现在有没有察觉到什么」。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⚠️ 是 Claude Opus 4 和 4.1，不是「最强的模型」。</a:t>
            </a:r>
          </a:p>
          <a:p>
            <a:r>
              <a:t>⚠️ 20% 的前提是研究者挑好了注入的层和强度。论文自己写「失败才是常态」。</a:t>
            </a:r>
          </a:p>
          <a:p>
            <a:r>
              <a:t>但 0 假阳性说明它不乱报——那 20% 是真的偶尔看见了。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下一页：让它算 36 + 59。先问老师「你猜它心里是怎么算的」。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让老师答一两句，多半会说「跟我们一样列竖式」。然后翻下一页。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缺的那部分用一个说得通的故事补上。人也这样，心理学叫虚构。</a:t>
            </a:r>
          </a:p>
          <a:p>
            <a:r>
              <a:t>注意：答案是对的，错的是它对自己过程的描述。这点要说清楚，不然老师会以为它算错了。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Gazzaniga &amp; LeDoux 1978，左脑解释器。</a:t>
            </a:r>
          </a:p>
          <a:p>
            <a:r>
              <a:t>⚠️ 被试不是正常人，是上世纪治重度癫痫切断胼胝体的病人，前后就十几个。日常看着完全正常，只是两半球之间不通消息。</a:t>
            </a:r>
          </a:p>
          <a:p>
            <a:r>
              <a:t>⚠️ 不是「一只眼看一样」——每只眼睛的左半视野都进右脑、右半视野都进左脑，分的是画面的左右两半。闪约 150 毫秒，来不及转眼球。</a:t>
            </a:r>
          </a:p>
          <a:p>
            <a:r>
              <a:t>⚠️ 正常人做这个测不出来：右脑看到雪景，立刻通过胼胝体告诉左脑，照样说得出。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别让老师以为「这是病人的怪事」。会说话的那部分替不会说话的那部分编理由，这件事一直在发生。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这条收在 AI 上就行，后半句老师自己会想到。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不下结论 AGI 几年到。说「顺序」比说「时间」靠谱。</a:t>
            </a:r>
          </a:p>
          <a:p>
            <a:r>
              <a:t>反面：有一派想跳过语言从零认识世界——没文化的人行一万里也只是换个地方发呆。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 Code、Codex 这类东西。下一页开始现场演示。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不现场演示，直接讲。</a:t>
            </a:r>
          </a:p>
          <a:p>
            <a:r>
              <a:t>可以问一句：「你们平时是哪种说法？」</a:t>
            </a:r>
          </a:p>
          <a:p>
            <a:r>
              <a:t>若有老师想看真实结果，可用手机现场试一句，但别指望投屏。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下面用三家厂商的官方指南和几篇论文说明这不是我的个人经验。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OpenAI: Six strategies。Anthropic: Be clear and direct / Add context / Use examples / XML tags / Give a role / Control format / Chain prompts。Google: Prompt design strategies。</a:t>
            </a:r>
          </a:p>
          <a:p>
            <a:r>
              <a:t>41% 出自 ACL 2026 Findings《What Prompts Don't Say》，同一篇还测到：说不清的提示词换个模型变差的概率是两倍。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角色设定：162 个角色 × 2410 道题 × 4 个模型族，加了跟不加没区别，哪个角色好基本随机；另一组在 MMLU 上测到 71.6% 掉到 66.3%。</a:t>
            </a:r>
          </a:p>
          <a:p>
            <a:r>
              <a:t>⚠️ 但要说句公道话：角色设定对语气和格式确实有效——想让它说得像老师讲课可以用，想让它算得更对没用。</a:t>
            </a:r>
          </a:p>
          <a:p>
            <a:r>
              <a:t>深呼吸：Google 用程序自动搜索出的字符串，在那个模型那个数据集上 80.2% vs 71.8%。论文讲的是「自动优化提示词有效」，不是这句话有魔力。</a:t>
            </a:r>
          </a:p>
          <a:p>
            <a:r>
              <a:t>这对我很重要：宾大 Wharton 用 GPT-4o 每题重复 100 次，单题上能摆动 60 个百分点，但整个数据集上互相抵消。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 et al. 2022, arXiv:2201.11903，PaLM 540B 在 GSM8K 上 17.9%→56.9%。</a:t>
            </a:r>
          </a:p>
          <a:p>
            <a:r>
              <a:t>原论文：约 100B 参数以下无效甚至有害，会产出「流畅但不合逻辑」的推理链。</a:t>
            </a:r>
          </a:p>
          <a:p>
            <a:r>
              <a:t>老化的证据：arXiv:2608.24641，测了五种技巧跨三组新老模型，GPT 线上新版本的边际收益递减甚至为负。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「这对我的职业生涯很重要」：2023 年一篇论文宣称提升 115%，2024 年系统复现发现几乎没有统计显著效果。那个 115% 是挑每个任务最好的一句算的，取平均只有 2%；原论文自己的表格里六个模型有三个反而变差，包括当时最强的 GPT-4。</a:t>
            </a:r>
          </a:p>
          <a:p>
            <a:r>
              <a:t>⚠️ 别跟 1.3 ① 混：①是往模型内部注入向量，硬证据；这里否掉的是「随口加句话就能可靠提分」。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各种指标全对，唯一不对的是最终画面。之后 AI 自己从第 0 层重做，要求每一层和原版一个数都不差，一天推完六十块。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两年后所有人都是「管 AI 的经理人」，差别只在指挥和验收的能力。</a:t>
            </a:r>
          </a:p>
          <a:p>
            <a:r>
              <a:t>★ 若老师问「学生用 AI 写作业怎么办」，可答：让他当堂讲一遍。但别主动讲这条。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教这件事没被替代，只是对象多了一个。跟带新班一样，第一节课定调。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那些叠衣服、递水杯的演示视频：训练集里密度最高的几个动作，换个杯子形状就要重采一批数据。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这个悖论给上一页那个立场提供了学界公认的说法。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原话大意：让计算机在智力测验或下棋上达到成人水平相对容易，但要让它有一岁小孩的感知和行动能力，极难甚至做不到。</a:t>
            </a:r>
          </a:p>
          <a:p>
            <a:r>
              <a:t>为什么：感知运动能力被打磨了几亿年，用起来不费力所以显得「简单」；抽象推理是最近几万年才有的，还很生涩，反而显得「高级」。</a:t>
            </a:r>
          </a:p>
          <a:p>
            <a:r>
              <a:t>**我们对难易的判断，是被自己的内省骗了。**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当场指着屏幕说「你们现在看的这个就是」。这是全场唯一一个不用截图、不用联网的活证据。</a:t>
            </a:r>
          </a:p>
          <a:p>
            <a:r>
              <a:t>好处不只是快：改一个数字所有相关页面一起更新不会漏；排版规则写在程序里，不会这页字大那页字小。昨晚改了七八处，每次重跑十秒。</a:t>
            </a:r>
          </a:p>
          <a:p>
            <a:r>
              <a:t>翻译成能用的：与其让 AI 帮你在软件里一步步操作，不如让它直接生成一个能用的文件——教案、试卷、成绩统计表都一样。</a:t>
            </a:r>
          </a:p>
          <a:p>
            <a:r>
              <a:t>下一页就是它「用鼠标」有多差的数据。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⚠️ 这是两套评测，不是同一套题调难度：86% 出自 OSWorld-Verified（现在的通用口径），72.6% 出自 OSWorld 2.0（另一套协议，108 题，每题平均 250 多步）。台上要说「两套评测」，别说成「同一套题换了难度」。</a:t>
            </a:r>
          </a:p>
          <a:p>
            <a:r>
              <a:t>人类基线约 72.4% 来自原版 OSWorld。</a:t>
            </a:r>
          </a:p>
          <a:p>
            <a:r>
              <a:t>要点：在常规任务上它表面已经超过人类，但任务一长就掉——**长流程是它的软肋**，这跟第二线那个 DLSS 故事是同一件事。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这就是莫拉维克悖论的当代版本，别的都不用记。</a:t>
            </a:r>
          </a:p>
          <a:p>
            <a:r>
              <a:t>具体是什么：AlphaEvolve 找到用 48 次乘法算两个 4×4 复数矩阵的方法，Strassen 1969 年的算法是 49 次。少一次，但那是全世界数学家找了半个世纪没找到的一次。</a:t>
            </a:r>
          </a:p>
          <a:p>
            <a:r>
              <a:t>⚠️ 有人问细节再说数字，不主动报——老师对 48 和 49 没感觉，对「56 年」有感觉。</a:t>
            </a:r>
          </a:p>
          <a:p>
            <a:r>
              <a:t>⚠️ 要说准：限定在复数矩阵这个设定，而且是「找到一个更好的构造」不是「证明了定理」。</a:t>
            </a:r>
          </a:p>
          <a:p>
            <a:r>
              <a:t>⚠️ 成功率：那 50 多个问题里约 75% 只是复现已知最好解，两成才是改进。</a:t>
            </a:r>
          </a:p>
          <a:p>
            <a:r>
              <a:t>陶哲轩指出它可靠的原因：LLM 只负责提出变异，验证器是人写的代码不会幻觉——AI 负责猜，人写的程序负责判。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老师听到这里会放心：AI 在屏幕里很强，出屏幕很弱。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老师日常备课，DeepSeek、豆包、Kimi 都够，不用追最新。</a:t>
            </a:r>
          </a:p>
          <a:p>
            <a:r>
              <a:t>★ 看气氛：国产模型不防「AI 有想法」、防政治敏感词；美国模型反过来。不合适就跳。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回到开场老师的那两三个回答，用讲过的机制各解释一句。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说完就停，不加「对学生也一样」——在座的都想得到。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783080"/>
            <a:ext cx="103327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F8FAFC"/>
                </a:solidFill>
                <a:latin typeface="Microsoft YaHei"/>
              </a:rPr>
              <a:t>AI 这两年到底发生了什么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337560"/>
            <a:ext cx="10332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94A3B8"/>
                </a:solidFill>
                <a:latin typeface="Microsoft YaHei"/>
              </a:rPr>
              <a:t>一个程序员和 AI 相处两年的笔记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靳岩岩　·　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DE047"/>
                </a:solidFill>
                <a:latin typeface="Microsoft YaHei"/>
              </a:rPr>
              <a:t>你们上周用 AI</a:t>
            </a:r>
          </a:p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DE047"/>
                </a:solidFill>
                <a:latin typeface="Microsoft YaHei"/>
              </a:rPr>
              <a:t>干了什么？出过什么错？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收两三个回答，后面讲机制时回头接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>
                <a:solidFill>
                  <a:srgbClr val="F8FAFC"/>
                </a:solidFill>
                <a:latin typeface="Microsoft YaHei"/>
              </a:rPr>
              <a:t>AI 是一个</a:t>
            </a:r>
          </a:p>
          <a:p>
            <a:pPr algn="ctr">
              <a:lnSpc>
                <a:spcPct val="115000"/>
              </a:lnSpc>
            </a:pPr>
            <a:r>
              <a:rPr sz="4200" b="1">
                <a:solidFill>
                  <a:srgbClr val="F8FAFC"/>
                </a:solidFill>
                <a:latin typeface="Microsoft YaHei"/>
              </a:rPr>
              <a:t>每天早上重新出生的天才儿童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206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5EEAD4"/>
                </a:solidFill>
                <a:latin typeface="Microsoft YaHei"/>
              </a:rPr>
              <a:t>读过全人类的书　·　没有身体　·　记不住昨天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6596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59E0B"/>
                </a:solidFill>
                <a:latin typeface="Microsoft YaHei"/>
              </a:rPr>
              <a:t>第一线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8FAFC"/>
                </a:solidFill>
                <a:latin typeface="Microsoft YaHei"/>
              </a:rPr>
              <a:t>它是怎么学的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794760"/>
            <a:ext cx="12191695" cy="4572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690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94A3B8"/>
                </a:solidFill>
                <a:latin typeface="Microsoft YaHei"/>
              </a:rPr>
              <a:t>大语言模型 → 多模态 → AGI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Microsoft YaHei"/>
              </a:rPr>
              <a:t>1.1　它只学了一件事：猜下一个词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44752"/>
            <a:ext cx="12191695" cy="27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8FAFC"/>
                </a:solidFill>
                <a:latin typeface="Microsoft YaHei"/>
              </a:rPr>
              <a:t>把互联网上的文字全读一遍，练到能接下句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8FAFC"/>
                </a:solidFill>
                <a:latin typeface="Microsoft YaHei"/>
              </a:rPr>
              <a:t>像背课文背到能接龙，区别是它背了整个图书馆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Microsoft YaHei"/>
              </a:rPr>
              <a:t>1.1　由此得到两个性质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44752"/>
            <a:ext cx="12191695" cy="27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5120640" cy="3566159"/>
          </a:xfrm>
          <a:prstGeom prst="roundRect">
            <a:avLst>
              <a:gd name="adj" fmla="val 6000"/>
            </a:avLst>
          </a:prstGeom>
          <a:solidFill>
            <a:srgbClr val="162038"/>
          </a:solidFill>
          <a:ln w="1905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4767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93C5FD"/>
                </a:solidFill>
                <a:latin typeface="Microsoft YaHei"/>
              </a:rPr>
              <a:t>性格是筛出来的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0"/>
            <a:ext cx="4572000" cy="4221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训练数据不是全人类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82467"/>
            <a:ext cx="4572000" cy="4221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是「会写字、发到网上、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404615"/>
            <a:ext cx="4572000" cy="4221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还过了质量筛选」的那群人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26763"/>
            <a:ext cx="4572000" cy="4221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051560" y="4248912"/>
            <a:ext cx="4572000" cy="4221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所以它天然好奇、爱表达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671060"/>
            <a:ext cx="4572000" cy="4221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不是设计的，是筛的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5120640" cy="3566159"/>
          </a:xfrm>
          <a:prstGeom prst="roundRect">
            <a:avLst>
              <a:gd name="adj" fmla="val 6000"/>
            </a:avLst>
          </a:prstGeom>
          <a:solidFill>
            <a:srgbClr val="162038"/>
          </a:solidFill>
          <a:ln w="19050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94767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A3E635"/>
                </a:solidFill>
                <a:latin typeface="Microsoft YaHei"/>
              </a:rPr>
              <a:t>它没有身体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4572000" cy="4221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所有概念从字里长出来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82467"/>
            <a:ext cx="4572000" cy="4221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不是从手上摸出来的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404615"/>
            <a:ext cx="4572000" cy="4221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583680" y="3826763"/>
            <a:ext cx="4572000" cy="4221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能推导不存在的物理定律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248912"/>
            <a:ext cx="4572000" cy="4221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却不知道羽毛掉地上不会碎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550407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FDE047"/>
                </a:solidFill>
                <a:latin typeface="Microsoft YaHei"/>
              </a:rPr>
              <a:t>幻觉不是撒谎，是一个没有身体的东西在真诚地乱讲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Microsoft YaHei"/>
              </a:rPr>
              <a:t>1.2　图和字进了同一个脑子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44752"/>
            <a:ext cx="12191695" cy="27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8FAFC"/>
                </a:solidFill>
                <a:latin typeface="Microsoft YaHei"/>
              </a:rPr>
              <a:t>看图、听声音，进了同一个模型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8FAFC"/>
                </a:solidFill>
                <a:latin typeface="Microsoft YaHei"/>
              </a:rPr>
              <a:t>它们</a:t>
            </a:r>
            <a:r>
              <a:rPr sz="2400" b="1">
                <a:solidFill>
                  <a:srgbClr val="F8FAFC"/>
                </a:solidFill>
                <a:latin typeface="Microsoft YaHei"/>
              </a:rPr>
              <a:t>共享结构，但不共享坐标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8FAFC"/>
                </a:solidFill>
                <a:latin typeface="Microsoft YaHei"/>
              </a:rPr>
              <a:t>能互相翻译，翻译会丢东西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6596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59E0B"/>
                </a:solidFill>
                <a:latin typeface="Microsoft YaHei"/>
              </a:rPr>
              <a:t>1.3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8FAFC"/>
                </a:solidFill>
                <a:latin typeface="Microsoft YaHei"/>
              </a:rPr>
              <a:t>四个反直觉的实验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794760"/>
            <a:ext cx="12191695" cy="4572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690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94A3B8"/>
                </a:solidFill>
                <a:latin typeface="Microsoft YaHei"/>
              </a:rPr>
              <a:t>全场最该记住的一段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5EEAD4"/>
                </a:solidFill>
                <a:latin typeface="Microsoft YaHei"/>
              </a:rPr>
              <a:t>① 它内部有类似情绪的东西</a:t>
            </a:r>
          </a:p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5EEAD4"/>
                </a:solidFill>
                <a:latin typeface="Microsoft YaHei"/>
              </a:rPr>
              <a:t>而且能调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4805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94A3B8"/>
                </a:solidFill>
                <a:latin typeface="Microsoft YaHei"/>
              </a:rPr>
              <a:t>Anthropic，2026 年 4 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Microsoft YaHei"/>
              </a:rPr>
              <a:t>① 同一个测试：它为了完成任务而采取不正当手段的比例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44752"/>
            <a:ext cx="12191695" cy="27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148840"/>
            <a:ext cx="3352800" cy="2286000"/>
          </a:xfrm>
          <a:prstGeom prst="roundRect">
            <a:avLst>
              <a:gd name="adj" fmla="val 6000"/>
            </a:avLst>
          </a:prstGeom>
          <a:solidFill>
            <a:srgbClr val="162038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514600"/>
            <a:ext cx="316991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>
                <a:solidFill>
                  <a:srgbClr val="94A3B8"/>
                </a:solidFill>
                <a:latin typeface="Microsoft YaHei"/>
              </a:rPr>
              <a:t>22%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520439"/>
            <a:ext cx="3169919" cy="7543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什么都不做</a:t>
            </a:r>
          </a:p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（基线）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4360" y="2148840"/>
            <a:ext cx="3352800" cy="2286000"/>
          </a:xfrm>
          <a:prstGeom prst="roundRect">
            <a:avLst>
              <a:gd name="adj" fmla="val 6000"/>
            </a:avLst>
          </a:prstGeom>
          <a:solidFill>
            <a:srgbClr val="162038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5799" y="2514600"/>
            <a:ext cx="316991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>
                <a:solidFill>
                  <a:srgbClr val="F87171"/>
                </a:solidFill>
                <a:latin typeface="Microsoft YaHei"/>
              </a:rPr>
              <a:t>72%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799" y="3520439"/>
            <a:ext cx="3169919" cy="7543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往「绝望」那个</a:t>
            </a:r>
          </a:p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方向推一点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1480" y="2148840"/>
            <a:ext cx="3352800" cy="2286000"/>
          </a:xfrm>
          <a:prstGeom prst="roundRect">
            <a:avLst>
              <a:gd name="adj" fmla="val 6000"/>
            </a:avLst>
          </a:prstGeom>
          <a:solidFill>
            <a:srgbClr val="162038"/>
          </a:solidFill>
          <a:ln w="19050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22920" y="2514600"/>
            <a:ext cx="316991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>
                <a:solidFill>
                  <a:srgbClr val="A3E635"/>
                </a:solidFill>
                <a:latin typeface="Microsoft YaHei"/>
              </a:rPr>
              <a:t>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2920" y="3520439"/>
            <a:ext cx="3169919" cy="7543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往「平静」那个</a:t>
            </a:r>
          </a:p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方向推一点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09159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DE047"/>
                </a:solidFill>
                <a:latin typeface="Microsoft YaHei"/>
              </a:rPr>
              <a:t>推的幅度只有 0.05　—　轻轻拨一下旋钮，行为就从两成变成七成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DE047"/>
                </a:solidFill>
                <a:latin typeface="Microsoft YaHei"/>
              </a:rPr>
              <a:t>模型内部有一组可测量、可调节的状态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4805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94A3B8"/>
                </a:solidFill>
                <a:latin typeface="Microsoft YaHei"/>
              </a:rPr>
              <a:t>功能上跟情绪一样：状态在前，行为在后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5EEAD4"/>
                </a:solidFill>
                <a:latin typeface="Microsoft YaHei"/>
              </a:rPr>
              <a:t>② 反复学</a:t>
            </a:r>
          </a:p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5EEAD4"/>
                </a:solidFill>
                <a:latin typeface="Microsoft YaHei"/>
              </a:rPr>
              <a:t>某一刻突然就会了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4805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94A3B8"/>
                </a:solidFill>
                <a:latin typeface="Microsoft YaHei"/>
              </a:rPr>
              <a:t>OpenAI，2022 年，这个现象叫 grokking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Microsoft YaHei"/>
              </a:rPr>
              <a:t>② 同一批题：背下来只要一千步，真会要一百万步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44752"/>
            <a:ext cx="12191695" cy="27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148840"/>
            <a:ext cx="3352800" cy="2286000"/>
          </a:xfrm>
          <a:prstGeom prst="roundRect">
            <a:avLst>
              <a:gd name="adj" fmla="val 6000"/>
            </a:avLst>
          </a:prstGeom>
          <a:solidFill>
            <a:srgbClr val="162038"/>
          </a:solidFill>
          <a:ln w="1905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514600"/>
            <a:ext cx="316991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93C5FD"/>
                </a:solidFill>
                <a:latin typeface="Microsoft YaHei"/>
              </a:rPr>
              <a:t>1 千步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520439"/>
            <a:ext cx="3169919" cy="7543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训练题</a:t>
            </a:r>
          </a:p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全背下来了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4360" y="2148840"/>
            <a:ext cx="3352800" cy="2286000"/>
          </a:xfrm>
          <a:prstGeom prst="roundRect">
            <a:avLst>
              <a:gd name="adj" fmla="val 6000"/>
            </a:avLst>
          </a:prstGeom>
          <a:solidFill>
            <a:srgbClr val="162038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5799" y="2514600"/>
            <a:ext cx="316991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94A3B8"/>
                </a:solidFill>
                <a:latin typeface="Microsoft YaHei"/>
              </a:rPr>
              <a:t>10 万步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799" y="3520439"/>
            <a:ext cx="3169919" cy="7543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考试成绩</a:t>
            </a:r>
          </a:p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还在瞎猜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1480" y="2148840"/>
            <a:ext cx="3352800" cy="2286000"/>
          </a:xfrm>
          <a:prstGeom prst="roundRect">
            <a:avLst>
              <a:gd name="adj" fmla="val 6000"/>
            </a:avLst>
          </a:prstGeom>
          <a:solidFill>
            <a:srgbClr val="162038"/>
          </a:solidFill>
          <a:ln w="19050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22920" y="2514600"/>
            <a:ext cx="316991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A3E635"/>
                </a:solidFill>
                <a:latin typeface="Microsoft YaHei"/>
              </a:rPr>
              <a:t>100 万步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2920" y="3520439"/>
            <a:ext cx="3169919" cy="7543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突然</a:t>
            </a:r>
          </a:p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就会了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09159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DE047"/>
                </a:solidFill>
                <a:latin typeface="Microsoft YaHei"/>
              </a:rPr>
              <a:t>题目是一种特殊的除法，全套不到一万道，拿一半来训练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Microsoft YaHei"/>
              </a:rPr>
              <a:t>② 还有三个细节，比那三个数字更有意思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44752"/>
            <a:ext cx="12191695" cy="27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8FAFC"/>
                </a:solidFill>
                <a:latin typeface="Microsoft YaHei"/>
              </a:rPr>
              <a:t>模型很小</a:t>
            </a:r>
            <a:r>
              <a:rPr sz="2100" b="0">
                <a:solidFill>
                  <a:srgbClr val="F8FAFC"/>
                </a:solidFill>
                <a:latin typeface="Microsoft YaHei"/>
              </a:rPr>
              <a:t>：两层，四十万参数——不是大模型，是个玩具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8FAFC"/>
                </a:solidFill>
                <a:latin typeface="Microsoft YaHei"/>
              </a:rPr>
              <a:t>训练数据越少，开窍越晚</a:t>
            </a:r>
            <a:r>
              <a:rPr sz="2100" b="0">
                <a:solidFill>
                  <a:srgbClr val="F8FAFC"/>
                </a:solidFill>
                <a:latin typeface="Microsoft YaHei"/>
              </a:rPr>
              <a:t>：在某一段，每少 1% 的数据，开窍要多等四五成的时间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8FAFC"/>
                </a:solidFill>
                <a:latin typeface="Microsoft YaHei"/>
              </a:rPr>
              <a:t>而且不是每次都会开窍</a:t>
            </a:r>
            <a:r>
              <a:rPr sz="2100" b="0">
                <a:solidFill>
                  <a:srgbClr val="F8FAFC"/>
                </a:solidFill>
                <a:latin typeface="Microsoft YaHei"/>
              </a:rPr>
              <a:t>：论文里有一道题，喂到 95% 的数据也没开窍，模型就把答案背下来了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DE047"/>
                </a:solidFill>
                <a:latin typeface="Microsoft YaHei"/>
              </a:rPr>
              <a:t>「看起来一直没进步」</a:t>
            </a:r>
          </a:p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DE047"/>
                </a:solidFill>
                <a:latin typeface="Microsoft YaHei"/>
              </a:rPr>
              <a:t>和「其实没进步」，是两回事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4805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94A3B8"/>
                </a:solidFill>
                <a:latin typeface="Microsoft YaHei"/>
              </a:rPr>
              <a:t>前提是还在练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5EEAD4"/>
                </a:solidFill>
                <a:latin typeface="Microsoft YaHei"/>
              </a:rPr>
              <a:t>③ 它偶尔能看见</a:t>
            </a:r>
          </a:p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5EEAD4"/>
                </a:solidFill>
                <a:latin typeface="Microsoft YaHei"/>
              </a:rPr>
              <a:t>自己在想什么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4805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94A3B8"/>
                </a:solidFill>
                <a:latin typeface="Microsoft YaHei"/>
              </a:rPr>
              <a:t>Anthropic，2025 年 10 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Microsoft YaHei"/>
              </a:rPr>
              <a:t>③ 察觉得到，但很不可靠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44752"/>
            <a:ext cx="12191695" cy="27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148840"/>
            <a:ext cx="5166359" cy="2286000"/>
          </a:xfrm>
          <a:prstGeom prst="roundRect">
            <a:avLst>
              <a:gd name="adj" fmla="val 6000"/>
            </a:avLst>
          </a:prstGeom>
          <a:solidFill>
            <a:srgbClr val="162038"/>
          </a:solidFill>
          <a:ln w="19050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514600"/>
            <a:ext cx="498347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>
                <a:solidFill>
                  <a:srgbClr val="A3E635"/>
                </a:solidFill>
                <a:latin typeface="Microsoft YaHei"/>
              </a:rPr>
              <a:t>20%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520439"/>
            <a:ext cx="4983479" cy="7543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能察觉到</a:t>
            </a:r>
          </a:p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被注入的概念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19" y="2148840"/>
            <a:ext cx="5166359" cy="2286000"/>
          </a:xfrm>
          <a:prstGeom prst="roundRect">
            <a:avLst>
              <a:gd name="adj" fmla="val 6000"/>
            </a:avLst>
          </a:prstGeom>
          <a:solidFill>
            <a:srgbClr val="162038"/>
          </a:solidFill>
          <a:ln w="1905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59" y="2514600"/>
            <a:ext cx="498347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>
                <a:solidFill>
                  <a:srgbClr val="93C5FD"/>
                </a:solidFill>
                <a:latin typeface="Microsoft YaHe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59" y="3520439"/>
            <a:ext cx="4983479" cy="7543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不注入时的假阳性</a:t>
            </a:r>
          </a:p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（100 次里）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09159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DE047"/>
                </a:solidFill>
                <a:latin typeface="Microsoft YaHei"/>
              </a:rPr>
              <a:t>而且是在它把那个词说出口之前就报告的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5EEAD4"/>
                </a:solidFill>
                <a:latin typeface="Microsoft YaHei"/>
              </a:rPr>
              <a:t>④ 但它看不全</a:t>
            </a:r>
          </a:p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5EEAD4"/>
                </a:solidFill>
                <a:latin typeface="Microsoft YaHei"/>
              </a:rPr>
              <a:t>看不全的部分就编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4805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94A3B8"/>
                </a:solidFill>
                <a:latin typeface="Microsoft YaHei"/>
              </a:rPr>
              <a:t>同一批研究，2025 年 3 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8FAFC"/>
                </a:solidFill>
                <a:latin typeface="Microsoft YaHei"/>
              </a:rPr>
              <a:t>36 + 59 =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4805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94A3B8"/>
                </a:solidFill>
                <a:latin typeface="Microsoft YaHei"/>
              </a:rPr>
              <a:t>先问一句：你猜它心里是怎么算的？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Microsoft YaHei"/>
              </a:rPr>
              <a:t>④ 算 36 + 59 时，它实际在做的　vs　它嘴上说的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44752"/>
            <a:ext cx="12191695" cy="27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5120640" cy="3566159"/>
          </a:xfrm>
          <a:prstGeom prst="roundRect">
            <a:avLst>
              <a:gd name="adj" fmla="val 6000"/>
            </a:avLst>
          </a:prstGeom>
          <a:solidFill>
            <a:srgbClr val="162038"/>
          </a:solidFill>
          <a:ln w="19050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4767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A3E635"/>
                </a:solidFill>
                <a:latin typeface="Microsoft YaHei"/>
              </a:rPr>
              <a:t>内部实际的路径（研究者看到的）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0"/>
            <a:ext cx="4572000" cy="3618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一路算大概齐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22161"/>
            <a:ext cx="4572000" cy="3618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四十上下 ＋ 六十上下 → 九十几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84002"/>
            <a:ext cx="4572000" cy="3618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51560" y="3645843"/>
            <a:ext cx="4572000" cy="3618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另一路只盯个位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007684"/>
            <a:ext cx="4572000" cy="3618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6 ＋ 9 → 末位是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369525"/>
            <a:ext cx="4572000" cy="3618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51560" y="4731366"/>
            <a:ext cx="4572000" cy="3618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两路一合 → </a:t>
            </a:r>
            <a:r>
              <a:rPr sz="1400" b="1">
                <a:solidFill>
                  <a:srgbClr val="F8FAFC"/>
                </a:solidFill>
                <a:latin typeface="Microsoft YaHei"/>
              </a:rPr>
              <a:t>95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783080"/>
            <a:ext cx="5120640" cy="3566159"/>
          </a:xfrm>
          <a:prstGeom prst="roundRect">
            <a:avLst>
              <a:gd name="adj" fmla="val 6000"/>
            </a:avLst>
          </a:prstGeom>
          <a:solidFill>
            <a:srgbClr val="162038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94767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F87171"/>
                </a:solidFill>
                <a:latin typeface="Microsoft YaHei"/>
              </a:rPr>
              <a:t>它嘴上说的（问它怎么算的）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560320"/>
            <a:ext cx="4572000" cy="3618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「个位 6 加 9 得 15，进一位；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22161"/>
            <a:ext cx="4572000" cy="3618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十位 3 加 5 加 1 得 9；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84002"/>
            <a:ext cx="4572000" cy="3618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所以是 95」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645843"/>
            <a:ext cx="4572000" cy="3618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583680" y="4007684"/>
            <a:ext cx="4572000" cy="3618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—— 答案对，过程是假的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369525"/>
            <a:ext cx="4572000" cy="3618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这是网上到处都有的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731366"/>
            <a:ext cx="4572000" cy="3618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竖式加法标准答案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50407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FDE047"/>
                </a:solidFill>
                <a:latin typeface="Microsoft YaHei"/>
              </a:rPr>
              <a:t>不是撒谎：它对自己的中间过程只有很有限的访问权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Microsoft YaHei"/>
              </a:rPr>
              <a:t>④ 人也这样：裂脑人实验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44752"/>
            <a:ext cx="12191695" cy="27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F8FAFC"/>
                </a:solidFill>
                <a:latin typeface="Microsoft YaHei"/>
              </a:rPr>
              <a:t>被试是</a:t>
            </a:r>
            <a:r>
              <a:rPr sz="2100" b="1">
                <a:solidFill>
                  <a:srgbClr val="F8FAFC"/>
                </a:solidFill>
                <a:latin typeface="Microsoft YaHei"/>
              </a:rPr>
              <a:t>切断了胼胝体的癫痫病人</a:t>
            </a:r>
            <a:r>
              <a:rPr sz="2100" b="0">
                <a:solidFill>
                  <a:srgbClr val="F8FAFC"/>
                </a:solidFill>
                <a:latin typeface="Microsoft YaHei"/>
              </a:rPr>
              <a:t>——两个半球不通消息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F8FAFC"/>
                </a:solidFill>
                <a:latin typeface="Microsoft YaHei"/>
              </a:rPr>
              <a:t>盯住屏幕正中，</a:t>
            </a:r>
            <a:r>
              <a:rPr sz="2100" b="1">
                <a:solidFill>
                  <a:srgbClr val="F8FAFC"/>
                </a:solidFill>
                <a:latin typeface="Microsoft YaHei"/>
              </a:rPr>
              <a:t>左半边闪雪景，右半边闪鸡爪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F8FAFC"/>
                </a:solidFill>
                <a:latin typeface="Microsoft YaHei"/>
              </a:rPr>
              <a:t>左手（右脑管）选了</a:t>
            </a:r>
            <a:r>
              <a:rPr sz="2100" b="1">
                <a:solidFill>
                  <a:srgbClr val="F8FAFC"/>
                </a:solidFill>
                <a:latin typeface="Microsoft YaHei"/>
              </a:rPr>
              <a:t>铁锹</a:t>
            </a:r>
            <a:r>
              <a:rPr sz="2100" b="0">
                <a:solidFill>
                  <a:srgbClr val="F8FAFC"/>
                </a:solidFill>
                <a:latin typeface="Microsoft YaHei"/>
              </a:rPr>
              <a:t>，右手（左脑管）选了</a:t>
            </a:r>
            <a:r>
              <a:rPr sz="2100" b="1">
                <a:solidFill>
                  <a:srgbClr val="F8FAFC"/>
                </a:solidFill>
                <a:latin typeface="Microsoft YaHei"/>
              </a:rPr>
              <a:t>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F8FAFC"/>
                </a:solidFill>
                <a:latin typeface="Microsoft YaHei"/>
              </a:rPr>
              <a:t>问他为什么选铁锹——</a:t>
            </a:r>
            <a:r>
              <a:rPr sz="2100" b="1">
                <a:solidFill>
                  <a:srgbClr val="F8FAFC"/>
                </a:solidFill>
                <a:latin typeface="Microsoft YaHei"/>
              </a:rPr>
              <a:t>只有左脑会说话，而左脑没看见雪景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F8FAFC"/>
                </a:solidFill>
                <a:latin typeface="Microsoft YaHei"/>
              </a:rPr>
              <a:t>于是它现编了一个：</a:t>
            </a:r>
            <a:r>
              <a:rPr sz="2100" b="1">
                <a:solidFill>
                  <a:srgbClr val="F8FAFC"/>
                </a:solidFill>
                <a:latin typeface="Microsoft YaHei"/>
              </a:rPr>
              <a:t>「鸡爪配鸡，清理鸡舍需要铁锹」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5EEAD4"/>
                </a:solidFill>
                <a:latin typeface="Microsoft YaHei"/>
              </a:rPr>
              <a:t>正常人也是各半球各干各的</a:t>
            </a:r>
          </a:p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5EEAD4"/>
                </a:solidFill>
                <a:latin typeface="Microsoft YaHei"/>
              </a:rPr>
              <a:t>只是随时通消息，所以你察觉不到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4805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94A3B8"/>
                </a:solidFill>
                <a:latin typeface="Microsoft YaHei"/>
              </a:rPr>
              <a:t>裂脑人只是把这层遮蔽掀开了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DE047"/>
                </a:solidFill>
                <a:latin typeface="Microsoft YaHei"/>
              </a:rPr>
              <a:t>要判断它会不会</a:t>
            </a:r>
          </a:p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DE047"/>
                </a:solidFill>
                <a:latin typeface="Microsoft YaHei"/>
              </a:rPr>
              <a:t>得看它做出来的东西，不能只听它解释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5EEAD4"/>
                </a:solidFill>
                <a:latin typeface="Microsoft YaHei"/>
              </a:rPr>
              <a:t>这四件事人身上都有</a:t>
            </a:r>
          </a:p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5EEAD4"/>
                </a:solidFill>
                <a:latin typeface="Microsoft YaHei"/>
              </a:rPr>
              <a:t>只是它的分辨率低得多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4805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94A3B8"/>
                </a:solidFill>
                <a:latin typeface="Microsoft YaHei"/>
              </a:rPr>
              <a:t>所以「每天重新出生的天才儿童」不是比喻上的方便，是真能用来预测它的行为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Microsoft YaHei"/>
              </a:rPr>
              <a:t>1.4　AGI 什么时候来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44752"/>
            <a:ext cx="12191695" cy="27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8FAFC"/>
                </a:solidFill>
                <a:latin typeface="Microsoft YaHei"/>
              </a:rPr>
              <a:t>世界模型早就在它脑子里了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8FAFC"/>
                </a:solidFill>
                <a:latin typeface="Microsoft YaHei"/>
              </a:rPr>
              <a:t>缺的是</a:t>
            </a:r>
            <a:r>
              <a:rPr sz="2400" b="1">
                <a:solidFill>
                  <a:srgbClr val="F8FAFC"/>
                </a:solidFill>
                <a:latin typeface="Microsoft YaHei"/>
              </a:rPr>
              <a:t>带着问题去跟现实对质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8FAFC"/>
                </a:solidFill>
                <a:latin typeface="Microsoft YaHei"/>
              </a:rPr>
              <a:t>现在的 AI 是读了万卷书没出过门的书生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8FAFC"/>
                </a:solidFill>
                <a:latin typeface="Microsoft YaHei"/>
              </a:rPr>
              <a:t>读书在前，行路在后，顺序不能反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6596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59E0B"/>
                </a:solidFill>
                <a:latin typeface="Microsoft YaHei"/>
              </a:rPr>
              <a:t>第二线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8FAFC"/>
                </a:solidFill>
                <a:latin typeface="Microsoft YaHei"/>
              </a:rPr>
              <a:t>它开始自己干活了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794760"/>
            <a:ext cx="12191695" cy="4572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690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94A3B8"/>
                </a:solidFill>
                <a:latin typeface="Microsoft YaHei"/>
              </a:rPr>
              <a:t>工具调用 → 智能体框架 → 未来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Microsoft YaHei"/>
              </a:rPr>
              <a:t>2.1　第一步：它会调工具了（2024）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44752"/>
            <a:ext cx="12191695" cy="27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8FAFC"/>
                </a:solidFill>
                <a:latin typeface="Microsoft YaHei"/>
              </a:rPr>
              <a:t>能在回答里插一句「我要查一下天气」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8FAFC"/>
                </a:solidFill>
                <a:latin typeface="Microsoft YaHei"/>
              </a:rPr>
              <a:t>系统去查了，再把结果给它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8FAFC"/>
                </a:solidFill>
                <a:latin typeface="Microsoft YaHei"/>
              </a:rPr>
              <a:t>从</a:t>
            </a:r>
            <a:r>
              <a:rPr sz="2400" b="1">
                <a:solidFill>
                  <a:srgbClr val="F8FAFC"/>
                </a:solidFill>
                <a:latin typeface="Microsoft YaHei"/>
              </a:rPr>
              <a:t>只会说</a:t>
            </a:r>
            <a:r>
              <a:rPr sz="2400" b="0">
                <a:solidFill>
                  <a:srgbClr val="F8FAFC"/>
                </a:solidFill>
                <a:latin typeface="Microsoft YaHei"/>
              </a:rPr>
              <a:t>到</a:t>
            </a:r>
            <a:r>
              <a:rPr sz="2400" b="1">
                <a:solidFill>
                  <a:srgbClr val="F8FAFC"/>
                </a:solidFill>
                <a:latin typeface="Microsoft YaHei"/>
              </a:rPr>
              <a:t>会动手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8FAFC"/>
                </a:solidFill>
                <a:latin typeface="Microsoft YaHei"/>
              </a:rPr>
              <a:t>此时它一次只做一件事，做完就停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Microsoft YaHei"/>
              </a:rPr>
              <a:t>2.2　第二步：它能自己跑几个小时了（2025–2026）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44752"/>
            <a:ext cx="12191695" cy="27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8FAFC"/>
                </a:solidFill>
                <a:latin typeface="Microsoft YaHei"/>
              </a:rPr>
              <a:t>给一个目标，它自己拆任务、写代码、跑测试、看结果、改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8FAFC"/>
                </a:solidFill>
                <a:latin typeface="Microsoft YaHei"/>
              </a:rPr>
              <a:t>循环几百次，中间不用人管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Microsoft YaHei"/>
              </a:rPr>
              <a:t>同一个需求，两种说法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44752"/>
            <a:ext cx="12191695" cy="27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5120640" cy="3566159"/>
          </a:xfrm>
          <a:prstGeom prst="roundRect">
            <a:avLst>
              <a:gd name="adj" fmla="val 6000"/>
            </a:avLst>
          </a:prstGeom>
          <a:solidFill>
            <a:srgbClr val="162038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4767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94A3B8"/>
                </a:solidFill>
                <a:latin typeface="Microsoft YaHei"/>
              </a:rPr>
              <a:t>粗着说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0"/>
            <a:ext cx="4572000" cy="3618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「帮我做一节课的课件」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22161"/>
            <a:ext cx="4572000" cy="3618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51560" y="3284002"/>
            <a:ext cx="4572000" cy="3618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它只能猜：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45843"/>
            <a:ext cx="4572000" cy="3618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什么科目？什么年级？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007684"/>
            <a:ext cx="4572000" cy="3618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多长时间？讲到哪一步？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369525"/>
            <a:ext cx="4572000" cy="3618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51560" y="4731366"/>
            <a:ext cx="4572000" cy="3618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→ 给你一份放之四海的空壳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783080"/>
            <a:ext cx="5120640" cy="3566159"/>
          </a:xfrm>
          <a:prstGeom prst="roundRect">
            <a:avLst>
              <a:gd name="adj" fmla="val 6000"/>
            </a:avLst>
          </a:prstGeom>
          <a:solidFill>
            <a:srgbClr val="162038"/>
          </a:solidFill>
          <a:ln w="19050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94767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A3E635"/>
                </a:solidFill>
                <a:latin typeface="Microsoft YaHei"/>
              </a:rPr>
              <a:t>细着说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560320"/>
            <a:ext cx="4572000" cy="3618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「高一物理，牛顿第二定律，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22161"/>
            <a:ext cx="4572000" cy="3618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45 分钟，三个环节，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84002"/>
            <a:ext cx="4572000" cy="3618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每个环节配一道题，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645843"/>
            <a:ext cx="4572000" cy="3618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题目难度递增」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007684"/>
            <a:ext cx="4572000" cy="3618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583680" y="4369525"/>
            <a:ext cx="4572000" cy="3618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→ 给你一份能直接改改就用的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DE047"/>
                </a:solidFill>
                <a:latin typeface="Microsoft YaHei"/>
              </a:rPr>
              <a:t>AI 干活的质量</a:t>
            </a:r>
          </a:p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DE047"/>
                </a:solidFill>
                <a:latin typeface="Microsoft YaHei"/>
              </a:rPr>
              <a:t>等于你说话的粒度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Microsoft YaHei"/>
              </a:rPr>
              <a:t>这不是我的个人经验：三家官方指南的交集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44752"/>
            <a:ext cx="12191695" cy="27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8FAFC"/>
                </a:solidFill>
                <a:latin typeface="Microsoft YaHei"/>
              </a:rPr>
              <a:t>OpenAI 列了六条，Anthropic 七条，Google 七条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8FAFC"/>
                </a:solidFill>
                <a:latin typeface="Microsoft YaHei"/>
              </a:rPr>
              <a:t>三家都有的只有四条</a:t>
            </a:r>
            <a:r>
              <a:rPr sz="2200" b="0">
                <a:solidFill>
                  <a:srgbClr val="F8FAFC"/>
                </a:solidFill>
                <a:latin typeface="Microsoft YaHei"/>
              </a:rPr>
              <a:t>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8FAFC"/>
                </a:solidFill>
                <a:latin typeface="Microsoft YaHei"/>
              </a:rPr>
              <a:t>　把指令说清楚　·　给示例　·　补上下文　·　拆分复杂任务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8FAFC"/>
                </a:solidFill>
                <a:latin typeface="Microsoft YaHei"/>
              </a:rPr>
              <a:t>有研究量过：</a:t>
            </a:r>
            <a:r>
              <a:rPr sz="2200" b="1">
                <a:solidFill>
                  <a:srgbClr val="F8FAFC"/>
                </a:solidFill>
                <a:latin typeface="Microsoft YaHei"/>
              </a:rPr>
              <a:t>模型默认只能猜中你没说出口的需求的 41%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Microsoft YaHei"/>
              </a:rPr>
              <a:t>★ 三个流传很广、但靠不住的说法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44752"/>
            <a:ext cx="12191695" cy="27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8FAFC"/>
                </a:solidFill>
                <a:latin typeface="Microsoft YaHei"/>
              </a:rPr>
              <a:t>「你是一位资深××专家」</a:t>
            </a:r>
            <a:r>
              <a:rPr sz="2200" b="0">
                <a:solidFill>
                  <a:srgbClr val="F8FAFC"/>
                </a:solidFill>
                <a:latin typeface="Microsoft YaHei"/>
              </a:rPr>
              <a:t> —— 对准确率没用，可能还有害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8FAFC"/>
                </a:solidFill>
                <a:latin typeface="Microsoft YaHei"/>
              </a:rPr>
              <a:t>「深呼吸，一步一步想」</a:t>
            </a:r>
            <a:r>
              <a:rPr sz="2200" b="0">
                <a:solidFill>
                  <a:srgbClr val="F8FAFC"/>
                </a:solidFill>
                <a:latin typeface="Microsoft YaHei"/>
              </a:rPr>
              <a:t> —— 是程序在一个模型上搜出来的，换个模型就不灵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8FAFC"/>
                </a:solidFill>
                <a:latin typeface="Microsoft YaHei"/>
              </a:rPr>
              <a:t>「这对我很重要」</a:t>
            </a:r>
            <a:r>
              <a:rPr sz="2200" b="0">
                <a:solidFill>
                  <a:srgbClr val="F8FAFC"/>
                </a:solidFill>
                <a:latin typeface="Microsoft YaHei"/>
              </a:rPr>
              <a:t> —— 大规模重复实验里效果互相抵消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Microsoft YaHei"/>
              </a:rPr>
              <a:t>★ 唯一有硬证据的那条：让它一步一步想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44752"/>
            <a:ext cx="12191695" cy="27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5120640" cy="3566159"/>
          </a:xfrm>
          <a:prstGeom prst="roundRect">
            <a:avLst>
              <a:gd name="adj" fmla="val 6000"/>
            </a:avLst>
          </a:prstGeom>
          <a:solidFill>
            <a:srgbClr val="162038"/>
          </a:solidFill>
          <a:ln w="19050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4767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A3E635"/>
                </a:solidFill>
                <a:latin typeface="Microsoft YaHei"/>
              </a:rPr>
              <a:t>2022 年的实验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0"/>
            <a:ext cx="4572000" cy="4221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数学应用题上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82467"/>
            <a:ext cx="4572000" cy="4221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51560" y="3404615"/>
            <a:ext cx="4572000" cy="4221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直接问：</a:t>
            </a:r>
            <a:r>
              <a:rPr sz="1400" b="1">
                <a:solidFill>
                  <a:srgbClr val="F8FAFC"/>
                </a:solidFill>
                <a:latin typeface="Microsoft YaHei"/>
              </a:rPr>
              <a:t>17.9%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26763"/>
            <a:ext cx="4572000" cy="4221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加「一步一步想」：</a:t>
            </a:r>
            <a:r>
              <a:rPr sz="1400" b="1">
                <a:solidFill>
                  <a:srgbClr val="F8FAFC"/>
                </a:solidFill>
                <a:latin typeface="Microsoft YaHei"/>
              </a:rPr>
              <a:t>56.9%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248912"/>
            <a:ext cx="4572000" cy="4221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51560" y="4671060"/>
            <a:ext cx="4572000" cy="4221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这是提示词研究里最硬的一条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5120640" cy="3566159"/>
          </a:xfrm>
          <a:prstGeom prst="roundRect">
            <a:avLst>
              <a:gd name="adj" fmla="val 6000"/>
            </a:avLst>
          </a:prstGeom>
          <a:solidFill>
            <a:srgbClr val="162038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94767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94A3B8"/>
                </a:solidFill>
                <a:latin typeface="Microsoft YaHei"/>
              </a:rPr>
              <a:t>但今天已经不用你说了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4572000" cy="4221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原论文就写明：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82467"/>
            <a:ext cx="4572000" cy="4221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小模型用了</a:t>
            </a:r>
            <a:r>
              <a:rPr sz="1400" b="1">
                <a:solidFill>
                  <a:srgbClr val="F8FAFC"/>
                </a:solidFill>
                <a:latin typeface="Microsoft YaHei"/>
              </a:rPr>
              <a:t>反而更差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404615"/>
            <a:ext cx="4572000" cy="4221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583680" y="3826763"/>
            <a:ext cx="4572000" cy="4221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现在的主流模型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248912"/>
            <a:ext cx="4572000" cy="4221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Microsoft YaHei"/>
              </a:rPr>
              <a:t>已经把这一步内化了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671060"/>
            <a:ext cx="4572000" cy="4221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它自己会想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50407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FDE047"/>
                </a:solidFill>
                <a:latin typeface="Microsoft YaHei"/>
              </a:rPr>
              <a:t>技巧会老化：按模型代际重新适配，不能照搬三年前的教程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DE047"/>
                </a:solidFill>
                <a:latin typeface="Microsoft YaHei"/>
              </a:rPr>
              <a:t>管用的是把要求说清楚</a:t>
            </a:r>
          </a:p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DE047"/>
                </a:solidFill>
                <a:latin typeface="Microsoft YaHei"/>
              </a:rPr>
              <a:t>不是加咒语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4805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94A3B8"/>
                </a:solidFill>
                <a:latin typeface="Microsoft YaHei"/>
              </a:rPr>
              <a:t>那些咒语里最有名的一条，还专门被复现推翻过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Microsoft YaHei"/>
              </a:rPr>
              <a:t>2.3　上周的真事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44752"/>
            <a:ext cx="12191695" cy="27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8FAFC"/>
                </a:solidFill>
                <a:latin typeface="Microsoft YaHei"/>
              </a:rPr>
              <a:t>让 AI 把一个显卡的神经网络移植到另一家显卡上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8FAFC"/>
                </a:solidFill>
                <a:latin typeface="Microsoft YaHei"/>
              </a:rPr>
              <a:t>AI 干了三天，写了三千行工作日志，周五说</a:t>
            </a:r>
            <a:r>
              <a:rPr sz="2400" b="1">
                <a:solidFill>
                  <a:srgbClr val="F8FAFC"/>
                </a:solidFill>
                <a:latin typeface="Microsoft YaHei"/>
              </a:rPr>
              <a:t>「跑通了」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8FAFC"/>
                </a:solidFill>
                <a:latin typeface="Microsoft YaHei"/>
              </a:rPr>
              <a:t>周日凌晨我进游戏一看——</a:t>
            </a:r>
            <a:r>
              <a:rPr sz="2400" b="1">
                <a:solidFill>
                  <a:srgbClr val="F8FAFC"/>
                </a:solidFill>
                <a:latin typeface="Microsoft YaHei"/>
              </a:rPr>
              <a:t>画面根本没变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8FAFC"/>
                </a:solidFill>
                <a:latin typeface="Microsoft YaHei"/>
              </a:rPr>
              <a:t>查下来：一个标记位没设，所有结果每帧都算了、每帧都被扔了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Microsoft YaHei"/>
              </a:rPr>
              <a:t>2.3　从这件事抽出来的两句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44752"/>
            <a:ext cx="12191695" cy="27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5120640" cy="3566159"/>
          </a:xfrm>
          <a:prstGeom prst="roundRect">
            <a:avLst>
              <a:gd name="adj" fmla="val 6000"/>
            </a:avLst>
          </a:prstGeom>
          <a:solidFill>
            <a:srgbClr val="162038"/>
          </a:solidFill>
          <a:ln w="1905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4767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93C5FD"/>
                </a:solidFill>
                <a:latin typeface="Microsoft YaHei"/>
              </a:rPr>
              <a:t>协作没了，剩下指挥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0"/>
            <a:ext cx="4572000" cy="5065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8FAFC"/>
                </a:solidFill>
                <a:latin typeface="Microsoft YaHei"/>
              </a:rPr>
              <a:t>以前这活要四五个人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066897"/>
            <a:ext cx="4572000" cy="5065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8FAFC"/>
                </a:solidFill>
                <a:latin typeface="Microsoft YaHei"/>
              </a:rPr>
              <a:t>加一个项目经理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573475"/>
            <a:ext cx="4572000" cy="5065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51560" y="4080052"/>
            <a:ext cx="4572000" cy="5065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8FAFC"/>
                </a:solidFill>
                <a:latin typeface="Microsoft YaHei"/>
              </a:rPr>
              <a:t>现在是一个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586630"/>
            <a:ext cx="4572000" cy="5065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8FAFC"/>
                </a:solidFill>
                <a:latin typeface="Microsoft YaHei"/>
              </a:rPr>
              <a:t>加一个人的两个判断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83080"/>
            <a:ext cx="5120640" cy="3566159"/>
          </a:xfrm>
          <a:prstGeom prst="roundRect">
            <a:avLst>
              <a:gd name="adj" fmla="val 6000"/>
            </a:avLst>
          </a:prstGeom>
          <a:solidFill>
            <a:srgbClr val="162038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4767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F59E0B"/>
                </a:solidFill>
                <a:latin typeface="Microsoft YaHei"/>
              </a:rPr>
              <a:t>过程指标和结果打架，信结果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4572000" cy="5065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8FAFC"/>
                </a:solidFill>
                <a:latin typeface="Microsoft YaHei"/>
              </a:rPr>
              <a:t>AI 说「完成了」不算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066897"/>
            <a:ext cx="4572000" cy="5065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8FAFC"/>
                </a:solidFill>
                <a:latin typeface="Microsoft YaHei"/>
              </a:rPr>
              <a:t>日志说「执行了」不算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573475"/>
            <a:ext cx="4572000" cy="5065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583680" y="4080052"/>
            <a:ext cx="4572000" cy="5065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8FAFC"/>
                </a:solidFill>
                <a:latin typeface="Microsoft YaHei"/>
              </a:rPr>
              <a:t>屏幕上的画面算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Microsoft YaHei"/>
              </a:rPr>
              <a:t>2.4　它记不住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44752"/>
            <a:ext cx="12191695" cy="27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8FAFC"/>
                </a:solidFill>
                <a:latin typeface="Microsoft YaHei"/>
              </a:rPr>
              <a:t>每次对话都是新的一天，它不记得上次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8FAFC"/>
                </a:solidFill>
                <a:latin typeface="Microsoft YaHei"/>
              </a:rPr>
              <a:t>要么你替它记（笔记、文档、知识库）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8FAFC"/>
                </a:solidFill>
                <a:latin typeface="Microsoft YaHei"/>
              </a:rPr>
              <a:t>要么每次重新教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8FAFC"/>
                </a:solidFill>
                <a:latin typeface="Microsoft YaHei"/>
              </a:rPr>
              <a:t>你第一句话怎么说，决定它调出哪一套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6596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59E0B"/>
                </a:solidFill>
                <a:latin typeface="Microsoft YaHei"/>
              </a:rPr>
              <a:t>第三线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8FAFC"/>
                </a:solidFill>
                <a:latin typeface="Microsoft YaHei"/>
              </a:rPr>
              <a:t>给它一个身体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794760"/>
            <a:ext cx="12191695" cy="4572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690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94A3B8"/>
                </a:solidFill>
                <a:latin typeface="Microsoft YaHei"/>
              </a:rPr>
              <a:t>比大家想的远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Microsoft YaHei"/>
              </a:rPr>
              <a:t>3.1　一个立场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44752"/>
            <a:ext cx="12191695" cy="27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8FAFC"/>
                </a:solidFill>
                <a:latin typeface="Microsoft YaHei"/>
              </a:rPr>
              <a:t>现在机器人的路线是</a:t>
            </a:r>
            <a:r>
              <a:rPr sz="2400" b="1">
                <a:solidFill>
                  <a:srgbClr val="F8FAFC"/>
                </a:solidFill>
                <a:latin typeface="Microsoft YaHei"/>
              </a:rPr>
              <a:t>先造身体再装脑子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8FAFC"/>
                </a:solidFill>
                <a:latin typeface="Microsoft YaHei"/>
              </a:rPr>
              <a:t>我认为顺序反了：</a:t>
            </a:r>
            <a:r>
              <a:rPr sz="2400" b="1">
                <a:solidFill>
                  <a:srgbClr val="F8FAFC"/>
                </a:solidFill>
                <a:latin typeface="Microsoft YaHei"/>
              </a:rPr>
              <a:t>先有脑子，再由脑子决定要什么身体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8FAFC"/>
                </a:solidFill>
                <a:latin typeface="Microsoft YaHei"/>
              </a:rPr>
              <a:t>进化用四十亿年让脑子和身体互相适应，工程想跳过这一步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5EEAD4"/>
                </a:solidFill>
                <a:latin typeface="Microsoft YaHei"/>
              </a:rPr>
              <a:t>莫拉维克悖论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4805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94A3B8"/>
                </a:solidFill>
                <a:latin typeface="Microsoft YaHei"/>
              </a:rPr>
              <a:t>Hans Moravec，1988 年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Microsoft YaHei"/>
              </a:rPr>
              <a:t>为什么点鼠标比解物理题难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44752"/>
            <a:ext cx="12191695" cy="27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5120640" cy="3300984"/>
          </a:xfrm>
          <a:prstGeom prst="roundRect">
            <a:avLst>
              <a:gd name="adj" fmla="val 6000"/>
            </a:avLst>
          </a:prstGeom>
          <a:solidFill>
            <a:srgbClr val="162038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4767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94A3B8"/>
                </a:solidFill>
                <a:latin typeface="Microsoft YaHei"/>
              </a:rPr>
              <a:t>我们以为的难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0"/>
            <a:ext cx="4572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8FAFC"/>
                </a:solidFill>
                <a:latin typeface="Microsoft YaHei"/>
              </a:rPr>
              <a:t>下棋、证明定理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127248"/>
            <a:ext cx="4572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8FAFC"/>
                </a:solidFill>
                <a:latin typeface="Microsoft YaHei"/>
              </a:rPr>
              <a:t>解方程、写论文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694176"/>
            <a:ext cx="4572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51560" y="4261104"/>
            <a:ext cx="4572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8FAFC"/>
                </a:solidFill>
                <a:latin typeface="Microsoft YaHei"/>
              </a:rPr>
              <a:t>→ 对 AI 反而</a:t>
            </a:r>
            <a:r>
              <a:rPr sz="1800" b="1">
                <a:solidFill>
                  <a:srgbClr val="F8FAFC"/>
                </a:solidFill>
                <a:latin typeface="Microsoft YaHei"/>
              </a:rPr>
              <a:t>容易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120640" cy="3300984"/>
          </a:xfrm>
          <a:prstGeom prst="roundRect">
            <a:avLst>
              <a:gd name="adj" fmla="val 6000"/>
            </a:avLst>
          </a:prstGeom>
          <a:solidFill>
            <a:srgbClr val="162038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4767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F87171"/>
                </a:solidFill>
                <a:latin typeface="Microsoft YaHei"/>
              </a:rPr>
              <a:t>我们以为的简单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60320"/>
            <a:ext cx="4572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8FAFC"/>
                </a:solidFill>
                <a:latin typeface="Microsoft YaHei"/>
              </a:rPr>
              <a:t>认出一张脸、走路不摔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127248"/>
            <a:ext cx="4572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8FAFC"/>
                </a:solidFill>
                <a:latin typeface="Microsoft YaHei"/>
              </a:rPr>
              <a:t>把杯子从桌上拿起来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694176"/>
            <a:ext cx="4572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583680" y="4261104"/>
            <a:ext cx="4572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8FAFC"/>
                </a:solidFill>
                <a:latin typeface="Microsoft YaHei"/>
              </a:rPr>
              <a:t>→ 对 AI 反而</a:t>
            </a:r>
            <a:r>
              <a:rPr sz="1800" b="1">
                <a:solidFill>
                  <a:srgbClr val="F8FAFC"/>
                </a:solidFill>
                <a:latin typeface="Microsoft YaHei"/>
              </a:rPr>
              <a:t>极难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285232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FDE047"/>
                </a:solidFill>
                <a:latin typeface="Microsoft YaHei"/>
              </a:rPr>
              <a:t>莫拉维克的解释：感知和运动被自然选择磨了几亿年，久到沉进了硬件里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Microsoft YaHei"/>
              </a:rPr>
              <a:t>一个当场的例子：这份 PPT 是怎么做的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44752"/>
            <a:ext cx="12191695" cy="27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5120640" cy="3566159"/>
          </a:xfrm>
          <a:prstGeom prst="roundRect">
            <a:avLst>
              <a:gd name="adj" fmla="val 6000"/>
            </a:avLst>
          </a:prstGeom>
          <a:solidFill>
            <a:srgbClr val="162038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4767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94A3B8"/>
                </a:solidFill>
                <a:latin typeface="Microsoft YaHei"/>
              </a:rPr>
              <a:t>你们以为的做法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0"/>
            <a:ext cx="4572000" cy="5065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8FAFC"/>
                </a:solidFill>
                <a:latin typeface="Microsoft YaHei"/>
              </a:rPr>
              <a:t>让 AI 打开 PowerPoint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066897"/>
            <a:ext cx="4572000" cy="5065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8FAFC"/>
                </a:solidFill>
                <a:latin typeface="Microsoft YaHei"/>
              </a:rPr>
              <a:t>帮我拖文本框、调字号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573475"/>
            <a:ext cx="4572000" cy="5065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51560" y="4080052"/>
            <a:ext cx="4572000" cy="5065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8FAFC"/>
                </a:solidFill>
                <a:latin typeface="Microsoft YaHei"/>
              </a:rPr>
              <a:t>→ 这是让它</a:t>
            </a:r>
            <a:r>
              <a:rPr sz="1600" b="1">
                <a:solidFill>
                  <a:srgbClr val="F8FAFC"/>
                </a:solidFill>
                <a:latin typeface="Microsoft YaHei"/>
              </a:rPr>
              <a:t>用鼠标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586630"/>
            <a:ext cx="4572000" cy="5065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8FAFC"/>
                </a:solidFill>
                <a:latin typeface="Microsoft YaHei"/>
              </a:rPr>
              <a:t>→ 正是它最不擅长的事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83080"/>
            <a:ext cx="5120640" cy="3566159"/>
          </a:xfrm>
          <a:prstGeom prst="roundRect">
            <a:avLst>
              <a:gd name="adj" fmla="val 6000"/>
            </a:avLst>
          </a:prstGeom>
          <a:solidFill>
            <a:srgbClr val="162038"/>
          </a:solidFill>
          <a:ln w="19050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4767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A3E635"/>
                </a:solidFill>
                <a:latin typeface="Microsoft YaHei"/>
              </a:rPr>
              <a:t>实际的做法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4572000" cy="5065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8FAFC"/>
                </a:solidFill>
                <a:latin typeface="Microsoft YaHei"/>
              </a:rPr>
              <a:t>让 AI 写一个几百行的程序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066897"/>
            <a:ext cx="4572000" cy="5065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8FAFC"/>
                </a:solidFill>
                <a:latin typeface="Microsoft YaHei"/>
              </a:rPr>
              <a:t>程序自己生成这个文件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573475"/>
            <a:ext cx="4572000" cy="5065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583680" y="4080052"/>
            <a:ext cx="4572000" cy="5065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8FAFC"/>
                </a:solidFill>
                <a:latin typeface="Microsoft YaHei"/>
              </a:rPr>
              <a:t>→ 这是让它</a:t>
            </a:r>
            <a:r>
              <a:rPr sz="1600" b="1">
                <a:solidFill>
                  <a:srgbClr val="F8FAFC"/>
                </a:solidFill>
                <a:latin typeface="Microsoft YaHei"/>
              </a:rPr>
              <a:t>写代码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586630"/>
            <a:ext cx="4572000" cy="5065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8FAFC"/>
                </a:solidFill>
                <a:latin typeface="Microsoft YaHei"/>
              </a:rPr>
              <a:t>→ 正是它最擅长的事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50407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FDE047"/>
                </a:solidFill>
                <a:latin typeface="Microsoft YaHei"/>
              </a:rPr>
              <a:t>你们现在看的这五十几页，就是这么来的：改一句话，重跑十秒，全部更新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Microsoft YaHei"/>
              </a:rPr>
              <a:t>3.2　证据：让它操作电脑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44752"/>
            <a:ext cx="12191695" cy="27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8FAFC"/>
                </a:solidFill>
                <a:latin typeface="Microsoft YaHei"/>
              </a:rPr>
              <a:t>这是机器人的最简版：二维、传感器完美、错了能撤销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8FAFC"/>
                </a:solidFill>
                <a:latin typeface="Microsoft YaHei"/>
              </a:rPr>
              <a:t>有个标准测试叫 OSWorld，让 AI 直接操作一台真电脑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Microsoft YaHei"/>
              </a:rPr>
              <a:t>3.2　同样是操作电脑，题目复杂一个量级，成绩掉十三个点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44752"/>
            <a:ext cx="12191695" cy="27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148840"/>
            <a:ext cx="5166359" cy="2612898"/>
          </a:xfrm>
          <a:prstGeom prst="roundRect">
            <a:avLst>
              <a:gd name="adj" fmla="val 6000"/>
            </a:avLst>
          </a:prstGeom>
          <a:solidFill>
            <a:srgbClr val="162038"/>
          </a:solidFill>
          <a:ln w="19050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514600"/>
            <a:ext cx="498347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>
                <a:solidFill>
                  <a:srgbClr val="A3E635"/>
                </a:solidFill>
                <a:latin typeface="Microsoft YaHei"/>
              </a:rPr>
              <a:t>86%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520439"/>
            <a:ext cx="4983479" cy="10858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常规任务</a:t>
            </a:r>
          </a:p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每题不到三十步</a:t>
            </a:r>
          </a:p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（人类约 72%）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19" y="2148840"/>
            <a:ext cx="5166359" cy="2612898"/>
          </a:xfrm>
          <a:prstGeom prst="roundRect">
            <a:avLst>
              <a:gd name="adj" fmla="val 6000"/>
            </a:avLst>
          </a:prstGeom>
          <a:solidFill>
            <a:srgbClr val="162038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59" y="2514600"/>
            <a:ext cx="498347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>
                <a:solidFill>
                  <a:srgbClr val="F87171"/>
                </a:solidFill>
                <a:latin typeface="Microsoft YaHei"/>
              </a:rPr>
              <a:t>72.6%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59" y="3520439"/>
            <a:ext cx="4983479" cy="10858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复杂任务</a:t>
            </a:r>
          </a:p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每题两百多步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36057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DE047"/>
                </a:solidFill>
                <a:latin typeface="Microsoft YaHei"/>
              </a:rPr>
              <a:t>不是它变笨了，是长流程里每一步的小误差会累积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Microsoft YaHei"/>
              </a:rPr>
              <a:t>同一批模型，同一年，两件事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44752"/>
            <a:ext cx="12191695" cy="27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5120640" cy="3566159"/>
          </a:xfrm>
          <a:prstGeom prst="roundRect">
            <a:avLst>
              <a:gd name="adj" fmla="val 6000"/>
            </a:avLst>
          </a:prstGeom>
          <a:solidFill>
            <a:srgbClr val="162038"/>
          </a:solidFill>
          <a:ln w="19050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4767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A3E635"/>
                </a:solidFill>
                <a:latin typeface="Microsoft YaHei"/>
              </a:rPr>
              <a:t>数学家找了 56 年的一个改进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0"/>
            <a:ext cx="4572000" cy="316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1969 年有人算出一种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76931"/>
            <a:ext cx="4572000" cy="316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更快的矩阵乘法，此后没人超过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93541"/>
            <a:ext cx="4572000" cy="316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51560" y="3510152"/>
            <a:ext cx="4572000" cy="316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2025 年 5 月，谷歌的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826763"/>
            <a:ext cx="4572000" cy="316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Microsoft YaHei"/>
              </a:rPr>
              <a:t>找到了更快的那一个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143375"/>
            <a:ext cx="4572000" cy="316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51560" y="4459986"/>
            <a:ext cx="4572000" cy="316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（这类开放数学问题它试了 50 多个，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776596"/>
            <a:ext cx="4572000" cy="316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约两成真正改进了已知最好解）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783080"/>
            <a:ext cx="5120640" cy="3566159"/>
          </a:xfrm>
          <a:prstGeom prst="roundRect">
            <a:avLst>
              <a:gd name="adj" fmla="val 6000"/>
            </a:avLst>
          </a:prstGeom>
          <a:solidFill>
            <a:srgbClr val="162038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4767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F87171"/>
                </a:solidFill>
                <a:latin typeface="Microsoft YaHei"/>
              </a:rPr>
              <a:t>把鼠标移到一个按钮上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60320"/>
            <a:ext cx="4572000" cy="316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它可能点偏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76931"/>
            <a:ext cx="4572000" cy="316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583680" y="3193541"/>
            <a:ext cx="4572000" cy="316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一个人三十秒能做完的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510152"/>
            <a:ext cx="4572000" cy="316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排版操作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826763"/>
            <a:ext cx="4572000" cy="316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583680" y="4143375"/>
            <a:ext cx="4572000" cy="316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Microsoft YaHei"/>
              </a:rPr>
              <a:t>它要花十二分钟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50407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FDE047"/>
                </a:solidFill>
                <a:latin typeface="Microsoft YaHei"/>
              </a:rPr>
              <a:t>陶哲轩的说法：AI 的能力是尖刺状的——某些窄领域超人，同时会犯好笑的低级错误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87171"/>
                </a:solidFill>
                <a:latin typeface="Microsoft YaHei"/>
              </a:rPr>
              <a:t>一个人三十秒能做完的排版操作</a:t>
            </a:r>
          </a:p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87171"/>
                </a:solidFill>
                <a:latin typeface="Microsoft YaHei"/>
              </a:rPr>
              <a:t>它要花十二分钟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4805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94A3B8"/>
                </a:solidFill>
                <a:latin typeface="Microsoft YaHei"/>
              </a:rPr>
              <a:t>这么好的条件都这样，三维、传感器带噪、摔坏了不能撤销的版本，远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8FAFC"/>
                </a:solidFill>
                <a:latin typeface="Microsoft YaHei"/>
              </a:rPr>
              <a:t>最近两个月的四个模型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89888"/>
            <a:ext cx="12191695" cy="27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691640"/>
          <a:ext cx="10607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8FAFC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8FAFC"/>
                          </a:solidFill>
                          <a:latin typeface="Microsoft YaHei"/>
                        </a:rPr>
                        <a:t>一句定位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8FAFC"/>
                          </a:solidFill>
                          <a:latin typeface="Microsoft YaHei"/>
                        </a:rPr>
                        <a:t>对你意味着什么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8FAFC"/>
                          </a:solidFill>
                          <a:latin typeface="Microsoft YaHei"/>
                        </a:rPr>
                        <a:t>Kimi K3</a:t>
                      </a:r>
                    </a:p>
                    <a:p>
                      <a:pPr algn="l"/>
                      <a:r>
                        <a:rPr sz="1600">
                          <a:solidFill>
                            <a:srgbClr val="F8FAFC"/>
                          </a:solidFill>
                          <a:latin typeface="Microsoft YaHei"/>
                        </a:rPr>
                        <a:t>（月之暗面，7 月）</a:t>
                      </a:r>
                    </a:p>
                  </a:txBody>
                  <a:tcPr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F8FAFC"/>
                          </a:solidFill>
                          <a:latin typeface="Microsoft YaHei"/>
                        </a:rPr>
                        <a:t>国产开源里最大的</a:t>
                      </a:r>
                    </a:p>
                    <a:p>
                      <a:pPr algn="ctr"/>
                      <a:r>
                        <a:rPr sz="1600">
                          <a:solidFill>
                            <a:srgbClr val="F8FAFC"/>
                          </a:solidFill>
                          <a:latin typeface="Microsoft YaHei"/>
                        </a:rPr>
                        <a:t>权重公开可下载</a:t>
                      </a:r>
                    </a:p>
                  </a:txBody>
                  <a:tcPr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F8FAFC"/>
                          </a:solidFill>
                          <a:latin typeface="Microsoft YaHei"/>
                        </a:rPr>
                        <a:t>学校要私有部署</a:t>
                      </a:r>
                    </a:p>
                    <a:p>
                      <a:pPr algn="ctr"/>
                      <a:r>
                        <a:rPr sz="1600">
                          <a:solidFill>
                            <a:srgbClr val="F8FAFC"/>
                          </a:solidFill>
                          <a:latin typeface="Microsoft YaHei"/>
                        </a:rPr>
                        <a:t>数据不出校，是现实选项</a:t>
                      </a:r>
                    </a:p>
                  </a:txBody>
                  <a:tcPr>
                    <a:solidFill>
                      <a:srgbClr val="141D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8FAFC"/>
                          </a:solidFill>
                          <a:latin typeface="Microsoft YaHei"/>
                        </a:rPr>
                        <a:t>GLM-5.3-Flash</a:t>
                      </a:r>
                    </a:p>
                    <a:p>
                      <a:pPr algn="l"/>
                      <a:r>
                        <a:rPr sz="1600">
                          <a:solidFill>
                            <a:srgbClr val="F8FAFC"/>
                          </a:solidFill>
                          <a:latin typeface="Microsoft YaHei"/>
                        </a:rPr>
                        <a:t>（智谱，8 月底）</a:t>
                      </a:r>
                    </a:p>
                  </a:txBody>
                  <a:tcPr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F8FAFC"/>
                          </a:solidFill>
                          <a:latin typeface="Microsoft YaHei"/>
                        </a:rPr>
                        <a:t>名字像小份</a:t>
                      </a:r>
                    </a:p>
                    <a:p>
                      <a:pPr algn="ctr"/>
                      <a:r>
                        <a:rPr sz="1600">
                          <a:solidFill>
                            <a:srgbClr val="F8FAFC"/>
                          </a:solidFill>
                          <a:latin typeface="Microsoft YaHei"/>
                        </a:rPr>
                        <a:t>实际是新底座</a:t>
                      </a:r>
                    </a:p>
                  </a:txBody>
                  <a:tcPr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F8FAFC"/>
                          </a:solidFill>
                          <a:latin typeface="Microsoft YaHei"/>
                        </a:rPr>
                        <a:t>国产几家在互相抄作业</a:t>
                      </a:r>
                    </a:p>
                    <a:p>
                      <a:pPr algn="ctr"/>
                      <a:r>
                        <a:rPr sz="1600">
                          <a:solidFill>
                            <a:srgbClr val="F8FAFC"/>
                          </a:solidFill>
                          <a:latin typeface="Microsoft YaHei"/>
                        </a:rPr>
                        <a:t>而且抄得快</a:t>
                      </a:r>
                    </a:p>
                  </a:txBody>
                  <a:tcPr>
                    <a:solidFill>
                      <a:srgbClr val="141D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8FAFC"/>
                          </a:solidFill>
                          <a:latin typeface="Microsoft YaHei"/>
                        </a:rPr>
                        <a:t>Claude Fable 5.1</a:t>
                      </a:r>
                    </a:p>
                    <a:p>
                      <a:pPr algn="l"/>
                      <a:r>
                        <a:rPr sz="1600">
                          <a:solidFill>
                            <a:srgbClr val="F8FAFC"/>
                          </a:solidFill>
                          <a:latin typeface="Microsoft YaHei"/>
                        </a:rPr>
                        <a:t>（Anthropic）</a:t>
                      </a:r>
                    </a:p>
                  </a:txBody>
                  <a:tcPr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F8FAFC"/>
                          </a:solidFill>
                          <a:latin typeface="Microsoft YaHei"/>
                        </a:rPr>
                        <a:t>写代码和长文最稳</a:t>
                      </a:r>
                    </a:p>
                    <a:p>
                      <a:pPr algn="ctr"/>
                      <a:r>
                        <a:rPr sz="1600">
                          <a:solidFill>
                            <a:srgbClr val="F8FAFC"/>
                          </a:solidFill>
                          <a:latin typeface="Microsoft YaHei"/>
                        </a:rPr>
                        <a:t>管得也最严</a:t>
                      </a:r>
                    </a:p>
                  </a:txBody>
                  <a:tcPr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F8FAFC"/>
                          </a:solidFill>
                          <a:latin typeface="Microsoft YaHei"/>
                        </a:rPr>
                        <a:t>干正经活首选</a:t>
                      </a:r>
                    </a:p>
                    <a:p>
                      <a:pPr algn="ctr"/>
                      <a:r>
                        <a:rPr sz="1600">
                          <a:solidFill>
                            <a:srgbClr val="F8FAFC"/>
                          </a:solidFill>
                          <a:latin typeface="Microsoft YaHei"/>
                        </a:rPr>
                        <a:t>但国内用不方便</a:t>
                      </a:r>
                    </a:p>
                  </a:txBody>
                  <a:tcPr>
                    <a:solidFill>
                      <a:srgbClr val="141D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8FAFC"/>
                          </a:solidFill>
                          <a:latin typeface="Microsoft YaHei"/>
                        </a:rPr>
                        <a:t>GPT-6 Astra</a:t>
                      </a:r>
                    </a:p>
                    <a:p>
                      <a:pPr algn="l"/>
                      <a:r>
                        <a:rPr sz="1600">
                          <a:solidFill>
                            <a:srgbClr val="F8FAFC"/>
                          </a:solidFill>
                          <a:latin typeface="Microsoft YaHei"/>
                        </a:rPr>
                        <a:t>（OpenAI，9 月）</a:t>
                      </a:r>
                    </a:p>
                  </a:txBody>
                  <a:tcPr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F8FAFC"/>
                          </a:solidFill>
                          <a:latin typeface="Microsoft YaHei"/>
                        </a:rPr>
                        <a:t>上周干活的那个</a:t>
                      </a:r>
                    </a:p>
                    <a:p>
                      <a:pPr algn="ctr"/>
                      <a:r>
                        <a:rPr sz="1600">
                          <a:solidFill>
                            <a:srgbClr val="F8FAFC"/>
                          </a:solidFill>
                          <a:latin typeface="Microsoft YaHei"/>
                        </a:rPr>
                        <a:t>一天推六十块</a:t>
                      </a:r>
                    </a:p>
                  </a:txBody>
                  <a:tcPr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F8FAFC"/>
                          </a:solidFill>
                          <a:latin typeface="Microsoft YaHei"/>
                        </a:rPr>
                        <a:t>最能自己跑的</a:t>
                      </a:r>
                    </a:p>
                    <a:p>
                      <a:pPr algn="ctr"/>
                      <a:r>
                        <a:rPr sz="1600">
                          <a:solidFill>
                            <a:srgbClr val="F8FAFC"/>
                          </a:solidFill>
                          <a:latin typeface="Microsoft YaHei"/>
                        </a:rPr>
                        <a:t>适合长任务</a:t>
                      </a:r>
                    </a:p>
                  </a:txBody>
                  <a:tcPr>
                    <a:solidFill>
                      <a:srgbClr val="141D3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66344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DE047"/>
                </a:solidFill>
                <a:latin typeface="Microsoft YaHei"/>
              </a:rPr>
              <a:t>四家水平已经拉平，差别在性格，选哪个看你干什么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6596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59E0B"/>
                </a:solidFill>
                <a:latin typeface="Microsoft YaHei"/>
              </a:rPr>
              <a:t>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8FAFC"/>
                </a:solidFill>
                <a:latin typeface="Microsoft YaHei"/>
              </a:rPr>
              <a:t>三句话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794760"/>
            <a:ext cx="12191695" cy="4572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8FAFC"/>
                </a:solidFill>
                <a:latin typeface="Microsoft YaHei"/>
              </a:rPr>
              <a:t>如果只记三句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44752"/>
            <a:ext cx="12191695" cy="27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8FAFC"/>
                </a:solidFill>
                <a:latin typeface="Microsoft YaHei"/>
              </a:rPr>
              <a:t>1　它读过所有书，但</a:t>
            </a:r>
            <a:r>
              <a:rPr sz="2200" b="1">
                <a:solidFill>
                  <a:srgbClr val="F8FAFC"/>
                </a:solidFill>
                <a:latin typeface="Microsoft YaHei"/>
              </a:rPr>
              <a:t>没出过门</a:t>
            </a:r>
            <a:r>
              <a:rPr sz="2200" b="0">
                <a:solidFill>
                  <a:srgbClr val="F8FAFC"/>
                </a:solidFill>
                <a:latin typeface="Microsoft YaHei"/>
              </a:rPr>
              <a:t>，常识会错，编的东西是真诚的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8FAFC"/>
                </a:solidFill>
                <a:latin typeface="Microsoft YaHei"/>
              </a:rPr>
              <a:t>2　它能自己干活了，但需要有人</a:t>
            </a:r>
            <a:r>
              <a:rPr sz="2200" b="1">
                <a:solidFill>
                  <a:srgbClr val="F8FAFC"/>
                </a:solidFill>
                <a:latin typeface="Microsoft YaHei"/>
              </a:rPr>
              <a:t>说清楚要什么、并且看最终结果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8FAFC"/>
                </a:solidFill>
                <a:latin typeface="Microsoft YaHei"/>
              </a:rPr>
              <a:t>3　它</a:t>
            </a:r>
            <a:r>
              <a:rPr sz="2200" b="1">
                <a:solidFill>
                  <a:srgbClr val="F8FAFC"/>
                </a:solidFill>
                <a:latin typeface="Microsoft YaHei"/>
              </a:rPr>
              <a:t>记不住昨天</a:t>
            </a:r>
            <a:r>
              <a:rPr sz="2200" b="0">
                <a:solidFill>
                  <a:srgbClr val="F8FAFC"/>
                </a:solidFill>
                <a:latin typeface="Microsoft YaHei"/>
              </a:rPr>
              <a:t>，每次开新窗口都是第一次见你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DE047"/>
                </a:solidFill>
                <a:latin typeface="Microsoft YaHei"/>
              </a:rPr>
              <a:t>要判断它会不会</a:t>
            </a:r>
          </a:p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DE047"/>
                </a:solidFill>
                <a:latin typeface="Microsoft YaHei"/>
              </a:rPr>
              <a:t>得看它做出来的东西，不能只听它解释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8FAFC"/>
                </a:solidFill>
                <a:latin typeface="Microsoft YaHei"/>
              </a:rP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5EEAD4"/>
                </a:solidFill>
                <a:latin typeface="Microsoft YaHei"/>
              </a:rPr>
              <a:t>靳岩岩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94A3B8"/>
                </a:solidFill>
                <a:latin typeface="Microsoft YaHei"/>
              </a:rPr>
              <a:t>同名公众号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